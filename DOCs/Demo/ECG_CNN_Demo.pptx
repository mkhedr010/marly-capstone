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2" d="100"/>
          <a:sy n="102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A_ecg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6243"/>
            <a:ext cx="12188952" cy="25017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1124712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FFFFFF"/>
                </a:solidFill>
              </a:rPr>
              <a:t>Hardware Implementation of CNN</a:t>
            </a:r>
            <a:r>
              <a:rPr lang="en-US" sz="3400" b="1" dirty="0">
                <a:solidFill>
                  <a:srgbClr val="FFFFFF"/>
                </a:solidFill>
              </a:rPr>
              <a:t> </a:t>
            </a:r>
            <a:r>
              <a:rPr sz="3400" b="1" i="0" dirty="0">
                <a:solidFill>
                  <a:srgbClr val="FFFFFF"/>
                </a:solidFill>
              </a:rPr>
              <a:t>for ECG
Analysis and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47533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BDEFB"/>
                </a:solidFill>
              </a:rPr>
              <a:t>Marly Barsoum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0CAF9"/>
                </a:solidFill>
              </a:rPr>
              <a:t>Toronto Metropolitan University  |  Dept. of Electrical, Computer and Biomedical Engineering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4B5F6"/>
                </a:solidFill>
              </a:rPr>
              <a:t>Capstone Design Project  —  FPGA-Based ECG Arrhythmia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Motivation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Why ECG classification on FPGA?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 b="0">
                <a:solidFill>
                  <a:srgbClr val="2C2C2C"/>
                </a:solidFill>
              </a:rPr>
              <a:t>  •  Cardiovascular disease is the #1 cause of death globally — 17.9 million deaths per year</a:t>
            </a:r>
          </a:p>
          <a:p>
            <a:pPr>
              <a:spcBef>
                <a:spcPts val="400"/>
              </a:spcBef>
            </a:pPr>
            <a:r>
              <a:rPr sz="2100" b="0">
                <a:solidFill>
                  <a:srgbClr val="2C2C2C"/>
                </a:solidFill>
              </a:rPr>
              <a:t>  •  ECG is the primary non-invasive diagnostic tool — but manual reading requires specialists and is slow</a:t>
            </a:r>
          </a:p>
          <a:p>
            <a:pPr>
              <a:spcBef>
                <a:spcPts val="400"/>
              </a:spcBef>
            </a:pPr>
            <a:r>
              <a:rPr sz="2100" b="0">
                <a:solidFill>
                  <a:srgbClr val="2C2C2C"/>
                </a:solidFill>
              </a:rPr>
              <a:t>  •  Automated classification enables real-time screening, wearable monitoring, and point-of-care diagnosis</a:t>
            </a:r>
          </a:p>
          <a:p>
            <a:pPr>
              <a:spcBef>
                <a:spcPts val="400"/>
              </a:spcBef>
            </a:pPr>
            <a:r>
              <a:rPr sz="2100" b="0">
                <a:solidFill>
                  <a:srgbClr val="2C2C2C"/>
                </a:solidFill>
              </a:rPr>
              <a:t>  •  FPGAs offer deterministic low-latency inference at the edge — no cloud dependency, no CPU bottleneck</a:t>
            </a:r>
          </a:p>
          <a:p>
            <a:pPr>
              <a:spcBef>
                <a:spcPts val="400"/>
              </a:spcBef>
            </a:pPr>
            <a:r>
              <a:rPr sz="2100" b="0">
                <a:solidFill>
                  <a:srgbClr val="2C2C2C"/>
                </a:solidFill>
              </a:rPr>
              <a:t>  •  Goal: Classify 8 arrhythmia types in 2.2 ms on a $100 FPGA board using a hardware CNN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280160"/>
            <a:ext cx="2011680" cy="146304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17.9M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deaths/year
from CVD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280160"/>
            <a:ext cx="2011680" cy="1463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360 Hz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ECG sampling
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926080"/>
            <a:ext cx="2011680" cy="1463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2.2 ms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inference
per beat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2926080"/>
            <a:ext cx="20116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95.75%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classification
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663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MIT-BIH Arrhythmia Database: 8 classes, 360 Hz, 9,368 validation beats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End-to-end data flow</a:t>
            </a:r>
          </a:p>
        </p:txBody>
      </p:sp>
      <p:pic>
        <p:nvPicPr>
          <p:cNvPr id="5" name="Picture 4" descr="figure_SYS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" y="1325880"/>
            <a:ext cx="1161288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920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Python reads MIT-BIH ECG records  →  preprocesses to 12-bit  →  streams via RS-232 UART at 360 Hz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FPGA receives samples  →  fills 128-sample buffer  →  runs ZolotyhNet CNN  →  drives LCD + LEDs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PC visualizes the raw ECG waveform in real time on screen (matplotlib)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C625C0-DEFB-BED0-0A0E-4FDC5DCBE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38" y="1727290"/>
            <a:ext cx="11612880" cy="3164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Dataset &amp; Signal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MIT-BIH Arrhythmia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MIT-BIH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48 records, 47 subjects, dual-lead ambulatory ECG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Sampling rate: 360 Hz  |  MLII lead used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8 arrhythmia classes: N, L, R, V, A, E, !, _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128-sample window centered on R-peak (±64 samples ≈ 356 ms)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90% training / 10% validation split  →  9,368 validation beats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31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PC-SIDE PREPROCESSING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06240"/>
            <a:ext cx="5486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34340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Raw ADC → physical mV:  (ADC − zero − baseline) / gain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UART path: min-max normalize → 12-bit signed integer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Two-byte framing: Byte1 = lower 8 bits, Byte2 = upper 4 bits</a:t>
            </a:r>
          </a:p>
        </p:txBody>
      </p:sp>
      <p:pic>
        <p:nvPicPr>
          <p:cNvPr id="11" name="Picture 10" descr="figure_A_ecg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43000"/>
            <a:ext cx="59436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3520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</a:rPr>
              <a:t>Figure 1: 128-sample beat windows — Normal (N), PVC (V), LBBB (L) — MIT-BIH @ 360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114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The 8 arrhythmia classes: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5262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Normal sinus beat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76402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6402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2C2C"/>
                </a:solidFill>
              </a:rPr>
              <a:t>Left Bundle Branch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0017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017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Right Bundle Branch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23951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3951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PVC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47725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7725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Atrial Premature Beat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71500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7150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Ventricular Escape Beat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95274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95274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Ventricular Flutter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61904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1904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Unclassified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ZolotyhNet — Dual-Path 1D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Novel architecture designed for FPGA resource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0">
                <a:solidFill>
                  <a:srgbClr val="2C2C2C"/>
                </a:solidFill>
              </a:rPr>
              <a:t>  •  Upper path (Conv1D): 5 layers + 4 MaxPool — extracts local beat morphology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2C2C2C"/>
                </a:solidFill>
              </a:rPr>
              <a:t>  •  Lower path (FC): 3 Linear layers — captures global signal statistics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2C2C2C"/>
                </a:solidFill>
              </a:rPr>
              <a:t>  •  Fusion: element-wise ADD of both paths (8 values each)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2C2C2C"/>
                </a:solidFill>
              </a:rPr>
              <a:t>  •  Classifier: Linear(8→8) → Argmax → 3-bit class output (0–7)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2C2C2C"/>
                </a:solidFill>
              </a:rPr>
              <a:t>  •  ~14,700 parameters — 34× smaller than EcgResNet34 (~500K)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2C2C2C"/>
                </a:solidFill>
              </a:rPr>
              <a:t>  •  Quantized to Q8.8 fixed-point — fits entirely in on-chip M4K 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120640"/>
            <a:ext cx="1188720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14.7K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5120640"/>
            <a:ext cx="1188720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5+3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layer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120640"/>
            <a:ext cx="1188720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8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output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5120640"/>
            <a:ext cx="1188720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Q8.8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quantization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4D0E80-E386-C61C-DE4B-7F30F37E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274" y="1088136"/>
            <a:ext cx="3492062" cy="5733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Fixed-Point 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From PyTorch float32 weights to FPGA hardware</a:t>
            </a:r>
          </a:p>
        </p:txBody>
      </p:sp>
      <p:pic>
        <p:nvPicPr>
          <p:cNvPr id="5" name="Picture 4" descr="figure_QUAN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348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Q8.8 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09159"/>
            <a:ext cx="530352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16-bit signed: 1 sign + 7 integer + 8 fractional bits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Range: −128.0 to +127.996  |  Resolution: 1/256 ≈ 0.004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Conversion: round(weight × 256).astype(int16)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434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MAC ARITHMETIC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709159"/>
            <a:ext cx="5486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48463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Q8.8 × Q8.8 → Q16.16 product (32-bit accumulator)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After accumulation: right-shift 8 bits → back to Q8.8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18 .mif files → 18 weight_rom instances in VHDL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Python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Two-thread streaming + real-time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ECG_STREAM_VISUALIZE.PY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 dirty="0">
                <a:solidFill>
                  <a:srgbClr val="2C2C2C"/>
                </a:solidFill>
              </a:rPr>
              <a:t>  •  </a:t>
            </a:r>
            <a:r>
              <a:rPr sz="1800" b="0" dirty="0" err="1">
                <a:solidFill>
                  <a:srgbClr val="2C2C2C"/>
                </a:solidFill>
              </a:rPr>
              <a:t>ECGStreamer</a:t>
            </a:r>
            <a:r>
              <a:rPr sz="1800" b="0" dirty="0">
                <a:solidFill>
                  <a:srgbClr val="2C2C2C"/>
                </a:solidFill>
              </a:rPr>
              <a:t>: daemon thread — reads ECG file, streams at 360 Hz (</a:t>
            </a:r>
            <a:r>
              <a:rPr sz="1800" b="0" dirty="0" err="1">
                <a:solidFill>
                  <a:srgbClr val="2C2C2C"/>
                </a:solidFill>
              </a:rPr>
              <a:t>time.sleep</a:t>
            </a:r>
            <a:r>
              <a:rPr sz="1800" b="0" dirty="0">
                <a:solidFill>
                  <a:srgbClr val="2C2C2C"/>
                </a:solidFill>
              </a:rPr>
              <a:t>(1/360))</a:t>
            </a:r>
          </a:p>
          <a:p>
            <a:pPr>
              <a:spcBef>
                <a:spcPts val="400"/>
              </a:spcBef>
            </a:pPr>
            <a:r>
              <a:rPr sz="1800" b="0" dirty="0">
                <a:solidFill>
                  <a:srgbClr val="2C2C2C"/>
                </a:solidFill>
              </a:rPr>
              <a:t>  •  </a:t>
            </a:r>
            <a:r>
              <a:rPr sz="1800" b="0" dirty="0" err="1">
                <a:solidFill>
                  <a:srgbClr val="2C2C2C"/>
                </a:solidFill>
              </a:rPr>
              <a:t>ECGVisualizer</a:t>
            </a:r>
            <a:r>
              <a:rPr sz="1800" b="0" dirty="0">
                <a:solidFill>
                  <a:srgbClr val="2C2C2C"/>
                </a:solidFill>
              </a:rPr>
              <a:t>: main thread — matplotlib animation (required by </a:t>
            </a:r>
            <a:r>
              <a:rPr sz="1800" b="0" dirty="0" err="1">
                <a:solidFill>
                  <a:srgbClr val="2C2C2C"/>
                </a:solidFill>
              </a:rPr>
              <a:t>Tkinter</a:t>
            </a:r>
            <a:r>
              <a:rPr sz="1800" b="0" dirty="0">
                <a:solidFill>
                  <a:srgbClr val="2C2C2C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1800" b="0" dirty="0">
                <a:solidFill>
                  <a:srgbClr val="2C2C2C"/>
                </a:solidFill>
              </a:rPr>
              <a:t>  •  Thread-safe queue (</a:t>
            </a:r>
            <a:r>
              <a:rPr sz="1800" b="0" dirty="0" err="1">
                <a:solidFill>
                  <a:srgbClr val="2C2C2C"/>
                </a:solidFill>
              </a:rPr>
              <a:t>maxsize</a:t>
            </a:r>
            <a:r>
              <a:rPr sz="1800" b="0" dirty="0">
                <a:solidFill>
                  <a:srgbClr val="2C2C2C"/>
                </a:solidFill>
              </a:rPr>
              <a:t>=2000) between threads</a:t>
            </a:r>
          </a:p>
          <a:p>
            <a:pPr>
              <a:spcBef>
                <a:spcPts val="400"/>
              </a:spcBef>
            </a:pPr>
            <a:r>
              <a:rPr sz="1800" b="0" dirty="0">
                <a:solidFill>
                  <a:srgbClr val="2C2C2C"/>
                </a:solidFill>
              </a:rPr>
              <a:t>  •  Display path: raw mV values → scrolling ECG plot on PC</a:t>
            </a:r>
          </a:p>
          <a:p>
            <a:pPr>
              <a:spcBef>
                <a:spcPts val="400"/>
              </a:spcBef>
            </a:pPr>
            <a:r>
              <a:rPr sz="1800" b="0" dirty="0">
                <a:solidFill>
                  <a:srgbClr val="2C2C2C"/>
                </a:solidFill>
              </a:rPr>
              <a:t>  •  UART path: min-max normalize → 12-bit signed → two-byte frame → serial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26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TWO-BYTE UART FRAMING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800600"/>
            <a:ext cx="530352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9377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 dirty="0">
                <a:solidFill>
                  <a:srgbClr val="2C2C2C"/>
                </a:solidFill>
              </a:rPr>
              <a:t>  •  Byte 1 = lower 8 bits of 12-bit sample</a:t>
            </a:r>
          </a:p>
          <a:p>
            <a:pPr>
              <a:spcBef>
                <a:spcPts val="400"/>
              </a:spcBef>
            </a:pPr>
            <a:r>
              <a:rPr sz="1700" b="0" dirty="0">
                <a:solidFill>
                  <a:srgbClr val="2C2C2C"/>
                </a:solidFill>
              </a:rPr>
              <a:t>  •  Byte 2 = upper 4 bits, zero-padded to 8 bits</a:t>
            </a:r>
          </a:p>
          <a:p>
            <a:pPr>
              <a:spcBef>
                <a:spcPts val="400"/>
              </a:spcBef>
            </a:pPr>
            <a:r>
              <a:rPr sz="1700" b="0" dirty="0">
                <a:solidFill>
                  <a:srgbClr val="2C2C2C"/>
                </a:solidFill>
              </a:rPr>
              <a:t>  •  115,200 baud  |  8N1  |  CLKS_PER_BIT = 434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0C7C34-81C9-9CF3-F3F9-D4AFB6563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009" y="1348740"/>
            <a:ext cx="6337698" cy="50903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FPGA Hardware: UART &amp; Input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uart_receiver.vhd  +  buffer_128.vhd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UART RECEIVER — TWO NESTED FSMS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FSM 1 (byte-level): IDLE → START_BIT → DATA_BITS (×8) → STOP_BIT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FSM 2 (sample assembly): WAIT_BYTE1 → WAIT_BYTE2 → pulse sample_valid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115,200 baud  |  8N1  |  CLKS_PER_BIT = 434  |  50 MHz clock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uart_error asserted on bad stop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31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INPUT BUFFER — BUFFER_128.VHD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06240"/>
            <a:ext cx="5486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34340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128-entry circular dual-port M4K RAM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Write: 12-bit raw ADC  |  Read: 16-bit Q8.8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3-clock pipeline: sign-extend 12→16 → arithmetic right-shift 4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Triggers CNN when 128 samples accumulated AND CNN is IDLE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0F754D-1080-F2EF-6816-736BB279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9" y="2036921"/>
            <a:ext cx="6336665" cy="35156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FPGA Hardware: CNN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zolotyhnet_top  +  conv1d_engine  +  linear_engine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13-STATE TOP-LEVEL FSM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IDLE → CONV1→2→3→4→5 → LINEAR1→2→3 → FUSION → CLASSIFIER → ARGMAX → OUTPUT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OUTPUT holds result_valid='1' for 1,000 cycles (~20 µs)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C2C2C"/>
                </a:solidFill>
              </a:rPr>
              <a:t>  •  FUSION: upper[i] + lower[i] element-wise (not concatenation)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TIME-MULTIPLEXED MAC ENGINES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74720"/>
            <a:ext cx="5486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5486400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 dirty="0">
                <a:solidFill>
                  <a:srgbClr val="2C2C2C"/>
                </a:solidFill>
              </a:rPr>
              <a:t>  •  Conv1D engine: 9-state FSM — handles all 5 conv layers sequentially</a:t>
            </a:r>
          </a:p>
          <a:p>
            <a:pPr>
              <a:spcBef>
                <a:spcPts val="400"/>
              </a:spcBef>
            </a:pPr>
            <a:r>
              <a:rPr sz="1700" b="0" dirty="0">
                <a:solidFill>
                  <a:srgbClr val="2C2C2C"/>
                </a:solidFill>
              </a:rPr>
              <a:t>  •  Linear engine: 10-state FSM — handles Linear1, Linear2, Linear3, Classifier</a:t>
            </a:r>
          </a:p>
          <a:p>
            <a:pPr>
              <a:spcBef>
                <a:spcPts val="400"/>
              </a:spcBef>
            </a:pPr>
            <a:r>
              <a:rPr sz="1700" b="0" dirty="0">
                <a:solidFill>
                  <a:srgbClr val="2C2C2C"/>
                </a:solidFill>
              </a:rPr>
              <a:t>  •  Both use 32-bit accumulator (Q16.16) → right-shift 8 → Q8.8</a:t>
            </a:r>
          </a:p>
          <a:p>
            <a:pPr>
              <a:spcBef>
                <a:spcPts val="400"/>
              </a:spcBef>
            </a:pPr>
            <a:r>
              <a:rPr sz="1700" b="0" dirty="0">
                <a:solidFill>
                  <a:srgbClr val="2C2C2C"/>
                </a:solidFill>
              </a:rPr>
              <a:t>  •  </a:t>
            </a:r>
            <a:r>
              <a:rPr sz="1700" b="0" dirty="0" err="1">
                <a:solidFill>
                  <a:srgbClr val="2C2C2C"/>
                </a:solidFill>
              </a:rPr>
              <a:t>ReLU</a:t>
            </a:r>
            <a:r>
              <a:rPr sz="1700" b="0" dirty="0">
                <a:solidFill>
                  <a:srgbClr val="2C2C2C"/>
                </a:solidFill>
              </a:rPr>
              <a:t> inline in WRITE_OUTPUT (conv) / APPLY_</a:t>
            </a:r>
            <a:r>
              <a:rPr lang="en-US" sz="1700" dirty="0">
                <a:solidFill>
                  <a:srgbClr val="2C2C2C"/>
                </a:solidFill>
              </a:rPr>
              <a:t>RELU</a:t>
            </a:r>
            <a:endParaRPr sz="1700" b="0" dirty="0">
              <a:solidFill>
                <a:srgbClr val="2C2C2C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56235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565C0"/>
                </a:solidFill>
              </a:rPr>
              <a:t>18 WEIGHT ROMS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897880"/>
            <a:ext cx="54864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035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 dirty="0">
                <a:solidFill>
                  <a:srgbClr val="2C2C2C"/>
                </a:solidFill>
              </a:rPr>
              <a:t>  •  </a:t>
            </a:r>
            <a:r>
              <a:rPr sz="1700" b="0" dirty="0" err="1">
                <a:solidFill>
                  <a:srgbClr val="2C2C2C"/>
                </a:solidFill>
              </a:rPr>
              <a:t>weight_rom.vhd</a:t>
            </a:r>
            <a:r>
              <a:rPr sz="1700" b="0" dirty="0">
                <a:solidFill>
                  <a:srgbClr val="2C2C2C"/>
                </a:solidFill>
              </a:rPr>
              <a:t> — </a:t>
            </a:r>
            <a:r>
              <a:rPr sz="1700" b="0" dirty="0" err="1">
                <a:solidFill>
                  <a:srgbClr val="2C2C2C"/>
                </a:solidFill>
              </a:rPr>
              <a:t>ramstyle</a:t>
            </a:r>
            <a:r>
              <a:rPr sz="1700" b="0" dirty="0">
                <a:solidFill>
                  <a:srgbClr val="2C2C2C"/>
                </a:solidFill>
              </a:rPr>
              <a:t>="M4K"  |  </a:t>
            </a:r>
            <a:r>
              <a:rPr sz="1700" b="0" dirty="0" err="1">
                <a:solidFill>
                  <a:srgbClr val="2C2C2C"/>
                </a:solidFill>
              </a:rPr>
              <a:t>ram_init_file</a:t>
            </a:r>
            <a:r>
              <a:rPr sz="1700" b="0" dirty="0">
                <a:solidFill>
                  <a:srgbClr val="2C2C2C"/>
                </a:solidFill>
              </a:rPr>
              <a:t> → .</a:t>
            </a:r>
            <a:r>
              <a:rPr sz="1700" b="0" dirty="0" err="1">
                <a:solidFill>
                  <a:srgbClr val="2C2C2C"/>
                </a:solidFill>
              </a:rPr>
              <a:t>mif</a:t>
            </a:r>
            <a:r>
              <a:rPr sz="1700" b="0" dirty="0">
                <a:solidFill>
                  <a:srgbClr val="2C2C2C"/>
                </a:solidFill>
              </a:rPr>
              <a:t>  |  61% M4K used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82DE56-00DD-AC4C-2AF7-60D85A047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691" y="-18288"/>
            <a:ext cx="571413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BBDEFB"/>
                </a:solidFill>
              </a:rPr>
              <a:t>Streaming MIT-BIH ECG records from PC → FPGA → LCD classification in real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4297680" cy="3474720"/>
          </a:xfrm>
          <a:prstGeom prst="rect">
            <a:avLst/>
          </a:prstGeom>
          <a:solidFill>
            <a:srgbClr val="E3F2FD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E7D32"/>
                </a:solidFill>
              </a:rPr>
              <a:t>[BOARD PHOTO]
LCD: "Normal"
High-res photo of DE2 board
with Normal ECG streaming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25880"/>
            <a:ext cx="4297680" cy="3474720"/>
          </a:xfrm>
          <a:prstGeom prst="rect">
            <a:avLst/>
          </a:prstGeom>
          <a:solidFill>
            <a:srgbClr val="E3F2FD"/>
          </a:solidFill>
          <a:ln w="25400">
            <a:solidFill>
              <a:srgbClr val="DA2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DA251D"/>
                </a:solidFill>
              </a:rPr>
              <a:t>[BOARD PHOTO]
LCD: "Abnormal"
High-res photo of DE2 board
with Abnormal ECG streaming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325880"/>
            <a:ext cx="2651760" cy="347472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565C0"/>
                </a:solidFill>
              </a:rPr>
              <a:t>[SCREENSHOT]
Python ECG
visualizer
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</a:rPr>
              <a:t>"NORMAL"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A251D"/>
                </a:solidFill>
              </a:rPr>
              <a:t>"ABNORMAL"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532120"/>
            <a:ext cx="256032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2.2 ms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CNN inference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532120"/>
            <a:ext cx="256032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360 Hz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stream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5532120"/>
            <a:ext cx="256032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357 ms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end-to-end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5532120"/>
            <a:ext cx="338328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~32 records tested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MIT-BIH validation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F31AB8-560D-E071-4DE8-6392CC86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653" b="18231"/>
          <a:stretch>
            <a:fillRect/>
          </a:stretch>
        </p:blipFill>
        <p:spPr>
          <a:xfrm>
            <a:off x="9235438" y="1325880"/>
            <a:ext cx="2651761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Classification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BDEFB"/>
                </a:solidFill>
              </a:rPr>
              <a:t>ZolotyhNet on 9,368-sample MIT-BIH validation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A251D"/>
                </a:solidFill>
              </a:rPr>
              <a:t>95.75%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2C2C"/>
                </a:solidFill>
              </a:rPr>
              <a:t>Overall Accuracy  |  8,970 / 9,368 beats 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0604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Normal (N): 99.37%  — dominant class, 70% of dataset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LBBB (L): 96.41%  |  RBBB (R): 94.76%  — well learned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PVC (V): 83.50%  |  APB (A): 56.63%  — partial confusion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VEB (E): 0.00%  |  Flutter (!): 4.26%  — class imbalance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2C2C2C"/>
                </a:solidFill>
              </a:rPr>
              <a:t>  •  2.2 ms inference  |  Linear1 (128→64) is the dominant layer at ~45% of cycles</a:t>
            </a:r>
          </a:p>
        </p:txBody>
      </p:sp>
      <p:pic>
        <p:nvPicPr>
          <p:cNvPr id="8" name="Picture 7" descr="figure_H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92040"/>
            <a:ext cx="5029200" cy="1783080"/>
          </a:xfrm>
          <a:prstGeom prst="rect">
            <a:avLst/>
          </a:prstGeom>
        </p:spPr>
      </p:pic>
      <p:pic>
        <p:nvPicPr>
          <p:cNvPr id="9" name="Picture 8" descr="figure_I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57784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48006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C2C2C"/>
                </a:solidFill>
              </a:rPr>
              <a:t>Trade-off: 3.6% accuracy reduction vs. best software model → enables full FPGA deployment</a:t>
            </a:r>
          </a:p>
        </p:txBody>
      </p:sp>
      <p:pic>
        <p:nvPicPr>
          <p:cNvPr id="11" name="Picture 10" descr="figure_G_resource_util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5394960"/>
            <a:ext cx="55778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Key Contributions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68580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>
                <a:solidFill>
                  <a:srgbClr val="2C2C2C"/>
                </a:solidFill>
              </a:rPr>
              <a:t>  •  ✓  ZolotyhNet: a novel 14,700-parameter dual-path CNN — designed for FPGA resource constraints</a:t>
            </a:r>
          </a:p>
          <a:p>
            <a:pPr>
              <a:spcBef>
                <a:spcPts val="400"/>
              </a:spcBef>
            </a:pPr>
            <a:r>
              <a:rPr sz="2000" b="0">
                <a:solidFill>
                  <a:srgbClr val="2C2C2C"/>
                </a:solidFill>
              </a:rPr>
              <a:t>  •  ✓  Q8.8 fixed-point pipeline: PyTorch training → extract_weights.py → 18 MIF files → on-chip ROM</a:t>
            </a:r>
          </a:p>
          <a:p>
            <a:pPr>
              <a:spcBef>
                <a:spcPts val="400"/>
              </a:spcBef>
            </a:pPr>
            <a:r>
              <a:rPr sz="2000" b="0">
                <a:solidFill>
                  <a:srgbClr val="2C2C2C"/>
                </a:solidFill>
              </a:rPr>
              <a:t>  •  ✓  Time-multiplexed VHDL hardware: 1 Conv1D + 1 Linear MAC engine → 13% LEs, 61% M4K</a:t>
            </a:r>
          </a:p>
          <a:p>
            <a:pPr>
              <a:spcBef>
                <a:spcPts val="400"/>
              </a:spcBef>
            </a:pPr>
            <a:r>
              <a:rPr sz="2000" b="0">
                <a:solidFill>
                  <a:srgbClr val="2C2C2C"/>
                </a:solidFill>
              </a:rPr>
              <a:t>  •  ✓  95.75% accuracy on 8 arrhythmia classes — 2.2 ms inference per 128-sample beat window</a:t>
            </a:r>
          </a:p>
          <a:p>
            <a:pPr>
              <a:spcBef>
                <a:spcPts val="400"/>
              </a:spcBef>
            </a:pPr>
            <a:r>
              <a:rPr sz="2000" b="0">
                <a:solidFill>
                  <a:srgbClr val="2C2C2C"/>
                </a:solidFill>
              </a:rPr>
              <a:t>  •  ✓  Complete Python infrastructure: MIT-BIH reader, preprocessing, streaming, visualization</a:t>
            </a:r>
          </a:p>
          <a:p>
            <a:pPr>
              <a:spcBef>
                <a:spcPts val="400"/>
              </a:spcBef>
            </a:pPr>
            <a:r>
              <a:rPr sz="2000" b="0">
                <a:solidFill>
                  <a:srgbClr val="2C2C2C"/>
                </a:solidFill>
              </a:rPr>
              <a:t>  •  ✓  End-to-end validated: ~32 ECG records streamed to board — LCD and LED outputs correct</a:t>
            </a:r>
          </a:p>
        </p:txBody>
      </p:sp>
      <p:pic>
        <p:nvPicPr>
          <p:cNvPr id="7" name="Picture 6" descr="figure_G_resource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577840"/>
            <a:ext cx="5029200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0972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565C0"/>
                </a:solidFill>
              </a:rPr>
              <a:t>SYSTEM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371600"/>
            <a:ext cx="438912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79" y="1554480"/>
            <a:ext cx="43891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13%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Logic Elements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377440"/>
            <a:ext cx="43891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61%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M4K RAM blocks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200400"/>
            <a:ext cx="43891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14.7K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CNN 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023360"/>
            <a:ext cx="43891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2.2 ms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per-beat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846320"/>
            <a:ext cx="4389120" cy="6858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95.75%</a:t>
            </a:r>
          </a:p>
          <a:p>
            <a:pPr algn="ctr"/>
            <a:r>
              <a:rPr sz="1300">
                <a:solidFill>
                  <a:srgbClr val="BBDEFB"/>
                </a:solidFill>
              </a:rPr>
              <a:t>classification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1430</Words>
  <Application>Microsoft Office PowerPoint</Application>
  <PresentationFormat>Custom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Khedr, Bakr</cp:lastModifiedBy>
  <cp:revision>2</cp:revision>
  <dcterms:created xsi:type="dcterms:W3CDTF">2013-01-27T09:14:16Z</dcterms:created>
  <dcterms:modified xsi:type="dcterms:W3CDTF">2026-04-10T05:59:48Z</dcterms:modified>
  <cp:category/>
</cp:coreProperties>
</file>